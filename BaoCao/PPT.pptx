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0" r:id="rId4"/>
    <p:sldId id="259" r:id="rId5"/>
    <p:sldId id="263" r:id="rId6"/>
    <p:sldId id="262" r:id="rId7"/>
    <p:sldId id="264" r:id="rId8"/>
    <p:sldId id="265" r:id="rId9"/>
    <p:sldId id="261" r:id="rId10"/>
    <p:sldId id="266" r:id="rId11"/>
    <p:sldId id="268" r:id="rId12"/>
    <p:sldId id="267" r:id="rId13"/>
    <p:sldId id="270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FA8-A6C5-49E4-8E04-E06A06CC201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0BE09-1A0C-4D06-996E-A7CEB482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9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0BE09-1A0C-4D06-996E-A7CEB4821F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98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EA67-3F64-C44B-CBB0-743306ADA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CC8F6-17D5-464C-47A9-09C970F0B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011E9-2788-928C-5981-9BE5D73E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68562-A3B5-AAC4-AC77-39CB38AC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F193-3C10-C20C-1553-5EE243C4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2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2D67-D372-8A27-B23D-BBA59259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A6E2-0D67-88CF-1057-9968C24AA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5436B-11F9-BBD1-1D07-6E2B6D35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7191E-3B6C-060E-F2F7-02BD33469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9C05E-8ED6-DB5A-7AA7-EC65C628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60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490C-13BB-9EDB-7DA1-25D3C8A1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A0A5A-0D0A-C72C-43BB-43DC8199E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EC847-A4E3-B285-E146-B78ECCCF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1E300-B360-4EE1-4761-96BD1A8E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5C64B-DA8E-9F52-695E-1332BBB6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3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ED61-CCFA-61A2-B1D1-573B4E31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05CD1-B2D2-49B8-00CB-3652BD381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3A3C3-763D-D548-843A-50D8E7FE2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2B98D-02FF-C661-8D95-5BE41B44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856D9-8B6B-A5CE-E846-F1C21DED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4CCAB-808A-E692-76B8-EA8FED3F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9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6AFFD-9796-A318-2AE4-452BE5DC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4D823-8B2B-207C-59CD-9F769D521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629D5-F31D-6CA8-2CC0-D93AA7220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F8365-E8FE-F9E2-D7C2-9C8EFDFC1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CF66F0-0D42-0467-69B4-AC75467D8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FDE3E-B69E-021C-2E67-2AF18DE8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9720D-D4ED-ED84-DB0A-610DED3EF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862AF-6583-348E-43D2-56519849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2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36BCA-B11F-7DA2-43B9-FE4D8255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6EB91-189F-A8EE-462F-7F00CA04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993BC-E26A-7BDF-1642-51E16876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B262A-7425-58F7-90ED-587E536E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2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4B669-3C01-D503-FB59-7BE69B533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14D63-948F-B115-BAA6-BB37D2082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96FF9-5856-3080-5BA0-D0BEDEA3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C416-C992-CEE6-4ADC-8BF689B5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4223-0DA0-1BC4-7042-551213CE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1E48E-5E92-9B70-CA8F-1C4FFEBFB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1D170-FEC6-ECDC-282C-B8BA270C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8F1E7-FA58-053A-A3CA-5280BF38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8AA5C-5EE1-6D72-1E35-F7FCFE0E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0496-E8F5-4944-5565-08064C40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7EFB0-3A04-7DE8-03DF-0EE525458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52ECA-072B-FC82-2E48-A9A81F9A0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66D50-C029-23A3-73F4-ADC35AD5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D96E2-73EB-4376-EFC9-16020B79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82BC3-1401-2E61-21A6-1A5531FB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B396-2FAC-70B7-2174-235DF40C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6C382-708E-77A1-C2A2-F6E24DC74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5F4A2-4E00-CD72-B198-58B7FD54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31594-7D76-F4A2-C0BE-896E19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13A55-7317-4E91-47F2-4C73816B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8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8B8F6-9453-5639-B808-4ABFE59FE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E452C-105B-0B47-A68A-74FFF6B40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C5DC7-D3BA-363D-E82C-CB029F35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9B804-8647-86C1-C8AA-5F9CA5E7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A6DD8-EC1E-29B5-DE2A-0167568B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12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 introduction">
  <p:cSld name="Speakers introduc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744" y="1995581"/>
            <a:ext cx="2287529" cy="228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7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2235" y="1995580"/>
            <a:ext cx="2287529" cy="228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7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727" y="1995580"/>
            <a:ext cx="2287529" cy="228752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>
            <a:spLocks noGrp="1"/>
          </p:cNvSpPr>
          <p:nvPr>
            <p:ph type="ctrTitle"/>
          </p:nvPr>
        </p:nvSpPr>
        <p:spPr>
          <a:xfrm>
            <a:off x="3382943" y="840908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B4E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FFCB4E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8236200" y="6651113"/>
            <a:ext cx="3736657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https://se.haui.edu.vn   |   © 2026 </a:t>
            </a:r>
            <a:r>
              <a:rPr lang="en-US" sz="7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81041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868249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3"/>
          </p:nvPr>
        </p:nvSpPr>
        <p:spPr>
          <a:xfrm>
            <a:off x="493394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7"/>
          <p:cNvSpPr>
            <a:spLocks noGrp="1"/>
          </p:cNvSpPr>
          <p:nvPr>
            <p:ph type="pic" idx="4"/>
          </p:nvPr>
        </p:nvSpPr>
        <p:spPr>
          <a:xfrm>
            <a:off x="1050349" y="1995486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Google Shape;63;p7"/>
          <p:cNvSpPr>
            <a:spLocks noGrp="1"/>
          </p:cNvSpPr>
          <p:nvPr>
            <p:ph type="pic" idx="5"/>
          </p:nvPr>
        </p:nvSpPr>
        <p:spPr>
          <a:xfrm>
            <a:off x="4953554" y="1995486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7"/>
          <p:cNvSpPr>
            <a:spLocks noGrp="1"/>
          </p:cNvSpPr>
          <p:nvPr>
            <p:ph type="pic" idx="6"/>
          </p:nvPr>
        </p:nvSpPr>
        <p:spPr>
          <a:xfrm>
            <a:off x="8852743" y="1995487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7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8B8AD-5C1F-9117-8290-BC96034A27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4366" y="210048"/>
            <a:ext cx="2055008" cy="34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6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49C79-5030-A5A2-4C38-E9A356A35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5F31-5CD5-BCA3-05CA-C09BD0460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F8446-627E-6FD1-5B73-53D05C5CE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4561C-3313-4778-925C-E9B67E744D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169BF-93AB-AB3B-32FF-16A13852E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822C6-D3A6-5BA4-8942-19D6AEB79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C15F9-FDF0-4069-9432-AC495F08F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9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439CAD-B7F1-A82D-EB64-C48DD132BCFF}"/>
              </a:ext>
            </a:extLst>
          </p:cNvPr>
          <p:cNvSpPr txBox="1"/>
          <p:nvPr/>
        </p:nvSpPr>
        <p:spPr>
          <a:xfrm>
            <a:off x="3048000" y="449753"/>
            <a:ext cx="60960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vi-VN" sz="2400" b="1" i="0" cap="all" dirty="0">
                <a:solidFill>
                  <a:srgbClr val="003366"/>
                </a:solidFill>
                <a:effectLst/>
                <a:latin typeface="+mj-lt"/>
              </a:rPr>
              <a:t>Đại học Công nghiệp Hà Nội</a:t>
            </a:r>
          </a:p>
          <a:p>
            <a:pPr algn="ctr">
              <a:spcBef>
                <a:spcPts val="750"/>
              </a:spcBef>
              <a:buNone/>
            </a:pPr>
            <a:r>
              <a:rPr lang="vi-VN" sz="2400" b="0" i="0" dirty="0">
                <a:solidFill>
                  <a:srgbClr val="444444"/>
                </a:solidFill>
                <a:effectLst/>
                <a:latin typeface="+mj-lt"/>
              </a:rPr>
              <a:t>Trường Công nghệ Thông tin và Truyền thông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D0B8D-D7F7-4A0B-D49A-AD7718A3FB0F}"/>
              </a:ext>
            </a:extLst>
          </p:cNvPr>
          <p:cNvSpPr txBox="1"/>
          <p:nvPr/>
        </p:nvSpPr>
        <p:spPr>
          <a:xfrm>
            <a:off x="3048000" y="1690313"/>
            <a:ext cx="60960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US" sz="2000" b="1" i="0" cap="all" dirty="0" err="1">
                <a:solidFill>
                  <a:srgbClr val="E67E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b="1" i="0" cap="all" dirty="0">
                <a:solidFill>
                  <a:srgbClr val="E67E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cap="all" dirty="0" err="1">
                <a:solidFill>
                  <a:srgbClr val="E67E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000" b="1" i="0" cap="all" dirty="0">
                <a:solidFill>
                  <a:srgbClr val="E67E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cap="all" dirty="0" err="1">
                <a:solidFill>
                  <a:srgbClr val="E67E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000" b="1" i="0" cap="all" dirty="0">
                <a:solidFill>
                  <a:srgbClr val="E67E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cap="all" dirty="0" err="1">
                <a:solidFill>
                  <a:srgbClr val="E67E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endParaRPr lang="en-US" sz="2000" b="1" i="0" cap="all" dirty="0">
              <a:solidFill>
                <a:srgbClr val="E67E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0"/>
              </a:spcAft>
              <a:buNone/>
            </a:pPr>
            <a:r>
              <a:rPr lang="en-US" sz="2000" b="0" i="0" dirty="0" err="1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000" b="0" i="0" dirty="0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000" b="0" i="0" dirty="0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000" b="0" i="0" dirty="0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 b="0" i="0" dirty="0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 err="1">
                <a:solidFill>
                  <a:srgbClr val="7F8C8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2000" b="0" i="0" dirty="0">
              <a:solidFill>
                <a:srgbClr val="7F8C8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782210-4705-B53E-B50A-4D4BDE4B0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5305"/>
            <a:ext cx="12192000" cy="1827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EE97CE-B0EC-20F1-43A5-EF3BEEE6743B}"/>
              </a:ext>
            </a:extLst>
          </p:cNvPr>
          <p:cNvSpPr txBox="1"/>
          <p:nvPr/>
        </p:nvSpPr>
        <p:spPr>
          <a:xfrm>
            <a:off x="7718321" y="4645455"/>
            <a:ext cx="392307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b="1" i="0" dirty="0" err="1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b="1" i="0" dirty="0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Nguyễn Đức Toán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 err="1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b="1" i="0" dirty="0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b="1" i="0" dirty="0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b="1" i="0" dirty="0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2022605450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 err="1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b="1" i="0" dirty="0">
                <a:solidFill>
                  <a:srgbClr val="00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20252IT6009001 - K17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8F3D88-17DC-A5D1-EA75-D38EDEC522FE}"/>
              </a:ext>
            </a:extLst>
          </p:cNvPr>
          <p:cNvSpPr txBox="1"/>
          <p:nvPr/>
        </p:nvSpPr>
        <p:spPr>
          <a:xfrm>
            <a:off x="1445343" y="5105325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i="0" dirty="0">
                <a:solidFill>
                  <a:srgbClr val="003366"/>
                </a:solidFill>
                <a:effectLst/>
                <a:latin typeface="+mj-lt"/>
              </a:rPr>
              <a:t>GV hướng dẫn:</a:t>
            </a:r>
            <a:r>
              <a:rPr lang="vi-VN" b="0" i="0" dirty="0">
                <a:solidFill>
                  <a:srgbClr val="000000"/>
                </a:solidFill>
                <a:effectLst/>
                <a:latin typeface="+mj-lt"/>
              </a:rPr>
              <a:t> PGS.TS. Nguyễn Thị Mỹ Bình</a:t>
            </a:r>
            <a:endParaRPr lang="en-US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4853CE-A684-70F8-16DB-95B21396C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187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F6D65E0-7B7D-33F1-C42A-09CFF366D0D2}"/>
              </a:ext>
            </a:extLst>
          </p:cNvPr>
          <p:cNvSpPr/>
          <p:nvPr/>
        </p:nvSpPr>
        <p:spPr>
          <a:xfrm>
            <a:off x="812207" y="3839690"/>
            <a:ext cx="4690824" cy="226594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AE14A-6986-A04D-ADBB-EF1902B47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1A3B85-0477-3B7A-E0ED-8127FFD3740D}"/>
              </a:ext>
            </a:extLst>
          </p:cNvPr>
          <p:cNvSpPr txBox="1"/>
          <p:nvPr/>
        </p:nvSpPr>
        <p:spPr>
          <a:xfrm>
            <a:off x="4974286" y="216955"/>
            <a:ext cx="45040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BỐ CỤC NỘI DUNG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F6A7A1-F7ED-CB3D-EBCA-CE48B51E39C3}"/>
              </a:ext>
            </a:extLst>
          </p:cNvPr>
          <p:cNvCxnSpPr>
            <a:cxnSpLocks/>
          </p:cNvCxnSpPr>
          <p:nvPr/>
        </p:nvCxnSpPr>
        <p:spPr>
          <a:xfrm>
            <a:off x="963561" y="752362"/>
            <a:ext cx="10343536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1E2819D-D039-2E6B-C383-20E22B0B592A}"/>
              </a:ext>
            </a:extLst>
          </p:cNvPr>
          <p:cNvSpPr txBox="1"/>
          <p:nvPr/>
        </p:nvSpPr>
        <p:spPr>
          <a:xfrm>
            <a:off x="1071716" y="3987176"/>
            <a:ext cx="2713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Cài </a:t>
            </a:r>
            <a:r>
              <a:rPr lang="en-US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endParaRPr lang="en-US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BA3AACD-243E-5C7A-8C60-189D81CECBE8}"/>
              </a:ext>
            </a:extLst>
          </p:cNvPr>
          <p:cNvSpPr/>
          <p:nvPr/>
        </p:nvSpPr>
        <p:spPr>
          <a:xfrm>
            <a:off x="815241" y="1258530"/>
            <a:ext cx="4690824" cy="197628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E39F028-4EA4-880D-BC7C-FF1AFBCB2A10}"/>
              </a:ext>
            </a:extLst>
          </p:cNvPr>
          <p:cNvSpPr/>
          <p:nvPr/>
        </p:nvSpPr>
        <p:spPr>
          <a:xfrm>
            <a:off x="6429461" y="1258530"/>
            <a:ext cx="4690823" cy="197628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C72E2DA-417E-0614-4DF2-CFF35334470A}"/>
              </a:ext>
            </a:extLst>
          </p:cNvPr>
          <p:cNvSpPr/>
          <p:nvPr/>
        </p:nvSpPr>
        <p:spPr>
          <a:xfrm>
            <a:off x="6429460" y="3839691"/>
            <a:ext cx="4690823" cy="2265946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E98678-089B-1289-E454-B6D8E65A411F}"/>
              </a:ext>
            </a:extLst>
          </p:cNvPr>
          <p:cNvSpPr txBox="1"/>
          <p:nvPr/>
        </p:nvSpPr>
        <p:spPr>
          <a:xfrm>
            <a:off x="1071716" y="1327552"/>
            <a:ext cx="24678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vi-VN" sz="2000" b="1" i="0" dirty="0">
                <a:effectLst/>
                <a:latin typeface="+mj-lt"/>
              </a:rPr>
              <a:t>1. </a:t>
            </a:r>
            <a:r>
              <a:rPr lang="en-US" sz="2000" b="1" i="0" dirty="0" err="1">
                <a:effectLst/>
                <a:latin typeface="+mj-lt"/>
              </a:rPr>
              <a:t>Tổng</a:t>
            </a:r>
            <a:r>
              <a:rPr lang="en-US" sz="2000" b="1" i="0" dirty="0">
                <a:effectLst/>
                <a:latin typeface="+mj-lt"/>
              </a:rPr>
              <a:t> </a:t>
            </a:r>
            <a:r>
              <a:rPr lang="en-US" sz="2000" b="1" i="0" dirty="0" err="1">
                <a:effectLst/>
                <a:latin typeface="+mj-lt"/>
              </a:rPr>
              <a:t>quan</a:t>
            </a:r>
            <a:r>
              <a:rPr lang="en-US" sz="2000" b="1" i="0" dirty="0">
                <a:effectLst/>
                <a:latin typeface="+mj-lt"/>
              </a:rPr>
              <a:t> </a:t>
            </a:r>
            <a:r>
              <a:rPr lang="en-US" sz="2000" b="1" i="0" dirty="0" err="1">
                <a:effectLst/>
                <a:latin typeface="+mj-lt"/>
              </a:rPr>
              <a:t>dự</a:t>
            </a:r>
            <a:r>
              <a:rPr lang="vi-VN" sz="2000" b="1" i="0" dirty="0">
                <a:effectLst/>
                <a:latin typeface="+mj-lt"/>
              </a:rPr>
              <a:t> án</a:t>
            </a:r>
            <a:r>
              <a:rPr lang="en-US" sz="2000" b="1" i="0" dirty="0">
                <a:effectLst/>
                <a:latin typeface="+mj-lt"/>
              </a:rPr>
              <a:t>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AA99F-33AA-C25B-CF24-129C4A7896E6}"/>
              </a:ext>
            </a:extLst>
          </p:cNvPr>
          <p:cNvSpPr txBox="1"/>
          <p:nvPr/>
        </p:nvSpPr>
        <p:spPr>
          <a:xfrm>
            <a:off x="6764595" y="1357242"/>
            <a:ext cx="2713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vi-VN" sz="2000" b="1" i="0" dirty="0">
                <a:effectLst/>
                <a:latin typeface="+mj-lt"/>
              </a:rPr>
              <a:t>2. </a:t>
            </a:r>
            <a:r>
              <a:rPr lang="en-US" sz="2000" b="1" i="0" dirty="0" err="1">
                <a:effectLst/>
                <a:latin typeface="+mj-lt"/>
              </a:rPr>
              <a:t>Phân</a:t>
            </a:r>
            <a:r>
              <a:rPr lang="en-US" sz="2000" b="1" i="0" dirty="0">
                <a:effectLst/>
                <a:latin typeface="+mj-lt"/>
              </a:rPr>
              <a:t> </a:t>
            </a:r>
            <a:r>
              <a:rPr lang="en-US" sz="2000" b="1" i="0" dirty="0" err="1">
                <a:effectLst/>
                <a:latin typeface="+mj-lt"/>
              </a:rPr>
              <a:t>tích</a:t>
            </a:r>
            <a:r>
              <a:rPr lang="en-US" sz="2000" b="1" i="0" dirty="0">
                <a:effectLst/>
                <a:latin typeface="+mj-lt"/>
              </a:rPr>
              <a:t> &amp; </a:t>
            </a:r>
            <a:r>
              <a:rPr lang="vi-VN" sz="2000" b="1" i="0" dirty="0">
                <a:effectLst/>
                <a:latin typeface="+mj-lt"/>
              </a:rPr>
              <a:t>Thiết kế</a:t>
            </a:r>
            <a:endParaRPr lang="en-US" sz="2000" b="1" i="0" dirty="0">
              <a:effectLst/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AA5414-4A90-CF6A-224F-1F97214DF6B0}"/>
              </a:ext>
            </a:extLst>
          </p:cNvPr>
          <p:cNvSpPr txBox="1"/>
          <p:nvPr/>
        </p:nvSpPr>
        <p:spPr>
          <a:xfrm>
            <a:off x="6764595" y="3987176"/>
            <a:ext cx="3272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vi-VN" sz="2000" b="1" i="0" dirty="0">
                <a:effectLst/>
                <a:latin typeface="+mj-lt"/>
              </a:rPr>
              <a:t>4. </a:t>
            </a:r>
            <a:r>
              <a:rPr lang="en-US" sz="2000" b="1" i="0" dirty="0" err="1">
                <a:effectLst/>
                <a:latin typeface="+mj-lt"/>
              </a:rPr>
              <a:t>Kết</a:t>
            </a:r>
            <a:r>
              <a:rPr lang="en-US" sz="2000" b="1" i="0" dirty="0">
                <a:effectLst/>
                <a:latin typeface="+mj-lt"/>
              </a:rPr>
              <a:t> </a:t>
            </a:r>
            <a:r>
              <a:rPr lang="en-US" sz="2000" b="1" i="0" dirty="0" err="1">
                <a:effectLst/>
                <a:latin typeface="+mj-lt"/>
              </a:rPr>
              <a:t>luận</a:t>
            </a:r>
            <a:r>
              <a:rPr lang="en-US" sz="2000" b="1" i="0" dirty="0">
                <a:effectLst/>
                <a:latin typeface="+mj-lt"/>
              </a:rPr>
              <a:t> &amp; </a:t>
            </a:r>
            <a:r>
              <a:rPr lang="en-US" sz="2000" b="1" i="0" dirty="0" err="1">
                <a:effectLst/>
                <a:latin typeface="+mj-lt"/>
              </a:rPr>
              <a:t>Kiến</a:t>
            </a:r>
            <a:r>
              <a:rPr lang="en-US" sz="2000" b="1" i="0" dirty="0">
                <a:effectLst/>
                <a:latin typeface="+mj-lt"/>
              </a:rPr>
              <a:t> </a:t>
            </a:r>
            <a:r>
              <a:rPr lang="en-US" sz="2000" b="1" i="0" dirty="0" err="1">
                <a:effectLst/>
                <a:latin typeface="+mj-lt"/>
              </a:rPr>
              <a:t>nghị</a:t>
            </a:r>
            <a:endParaRPr lang="en-US" sz="2000" b="1" i="0" dirty="0">
              <a:effectLst/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8F8682-790A-9CD1-979A-C5C0B33841AE}"/>
              </a:ext>
            </a:extLst>
          </p:cNvPr>
          <p:cNvSpPr txBox="1"/>
          <p:nvPr/>
        </p:nvSpPr>
        <p:spPr>
          <a:xfrm>
            <a:off x="1071716" y="1781149"/>
            <a:ext cx="4345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b="0" i="0" dirty="0">
                <a:effectLst/>
                <a:latin typeface="+mj-lt"/>
              </a:rPr>
              <a:t>- </a:t>
            </a:r>
            <a:r>
              <a:rPr lang="en-US" b="0" i="0" dirty="0">
                <a:effectLst/>
                <a:latin typeface="+mj-lt"/>
              </a:rPr>
              <a:t>Lý do </a:t>
            </a:r>
            <a:r>
              <a:rPr lang="en-US" b="0" i="0" dirty="0" err="1">
                <a:effectLst/>
                <a:latin typeface="+mj-lt"/>
              </a:rPr>
              <a:t>lựa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chọn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đề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tài</a:t>
            </a:r>
            <a:r>
              <a:rPr lang="en-US" b="0" i="0" dirty="0">
                <a:effectLst/>
                <a:latin typeface="+mj-lt"/>
              </a:rPr>
              <a:t> Quản </a:t>
            </a:r>
            <a:r>
              <a:rPr lang="en-US" b="0" i="0" dirty="0" err="1">
                <a:effectLst/>
                <a:latin typeface="+mj-lt"/>
              </a:rPr>
              <a:t>trị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vận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tải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thông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minh</a:t>
            </a:r>
            <a:r>
              <a:rPr lang="en-US" b="0" i="0" dirty="0">
                <a:effectLst/>
                <a:latin typeface="+mj-lt"/>
              </a:rPr>
              <a:t> (SLTMS).</a:t>
            </a:r>
          </a:p>
          <a:p>
            <a:pPr algn="just"/>
            <a:r>
              <a:rPr lang="vi-VN" b="0" i="0" dirty="0">
                <a:effectLst/>
                <a:latin typeface="+mj-lt"/>
              </a:rPr>
              <a:t>- </a:t>
            </a:r>
            <a:r>
              <a:rPr lang="en-US" b="0" i="0" dirty="0" err="1">
                <a:effectLst/>
                <a:latin typeface="+mj-lt"/>
              </a:rPr>
              <a:t>Mục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tiêu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nghiên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cứu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và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phạm</a:t>
            </a:r>
            <a:r>
              <a:rPr lang="en-US" b="0" i="0" dirty="0">
                <a:effectLst/>
                <a:latin typeface="+mj-lt"/>
              </a:rPr>
              <a:t> vi </a:t>
            </a:r>
            <a:r>
              <a:rPr lang="en-US" b="0" i="0" dirty="0" err="1">
                <a:effectLst/>
                <a:latin typeface="+mj-lt"/>
              </a:rPr>
              <a:t>ứng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dụng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thực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tế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của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phần</a:t>
            </a: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 err="1">
                <a:effectLst/>
                <a:latin typeface="+mj-lt"/>
              </a:rPr>
              <a:t>mềm</a:t>
            </a:r>
            <a:r>
              <a:rPr lang="en-US" b="0" i="0" dirty="0">
                <a:effectLst/>
                <a:latin typeface="+mj-lt"/>
              </a:rPr>
              <a:t>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DDC1EE-BB75-4CC9-A7E2-0D1677A3DA8A}"/>
              </a:ext>
            </a:extLst>
          </p:cNvPr>
          <p:cNvSpPr txBox="1"/>
          <p:nvPr/>
        </p:nvSpPr>
        <p:spPr>
          <a:xfrm>
            <a:off x="6764595" y="1781148"/>
            <a:ext cx="429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b="0" i="0" dirty="0">
                <a:effectLst/>
                <a:latin typeface="+mj-lt"/>
              </a:rPr>
              <a:t>- Đặc tả yêu cầu chức năng nghiệp vụ của hệ thống (Luồng </a:t>
            </a:r>
            <a:r>
              <a:rPr lang="vi-VN" b="0" i="0" dirty="0" err="1">
                <a:effectLst/>
                <a:latin typeface="+mj-lt"/>
              </a:rPr>
              <a:t>Use</a:t>
            </a:r>
            <a:r>
              <a:rPr lang="vi-VN" b="0" i="0" dirty="0">
                <a:effectLst/>
                <a:latin typeface="+mj-lt"/>
              </a:rPr>
              <a:t> </a:t>
            </a:r>
            <a:r>
              <a:rPr lang="vi-VN" b="0" i="0" dirty="0" err="1">
                <a:effectLst/>
                <a:latin typeface="+mj-lt"/>
              </a:rPr>
              <a:t>Case</a:t>
            </a:r>
            <a:r>
              <a:rPr lang="vi-VN" b="0" i="0" dirty="0">
                <a:effectLst/>
                <a:latin typeface="+mj-lt"/>
              </a:rPr>
              <a:t>).</a:t>
            </a:r>
          </a:p>
          <a:p>
            <a:pPr algn="just"/>
            <a:r>
              <a:rPr lang="vi-VN" b="0" i="0" dirty="0">
                <a:effectLst/>
                <a:latin typeface="+mj-lt"/>
              </a:rPr>
              <a:t>- Thiết kế cơ sở dữ liệu quan hệ và cấu trúc thực thể chi tiết.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42A9ED-A98D-CA7E-50BC-066D8B9B4F23}"/>
              </a:ext>
            </a:extLst>
          </p:cNvPr>
          <p:cNvSpPr txBox="1"/>
          <p:nvPr/>
        </p:nvSpPr>
        <p:spPr>
          <a:xfrm>
            <a:off x="1071716" y="4333324"/>
            <a:ext cx="43458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b="0" i="0" dirty="0">
                <a:effectLst/>
                <a:latin typeface="+mj-lt"/>
              </a:rPr>
              <a:t>- Hiện thực hóa giao diện người dùng và công nghệ cốt lõi áp dụng.</a:t>
            </a:r>
            <a:endParaRPr lang="vi-VN" dirty="0">
              <a:latin typeface="+mj-lt"/>
            </a:endParaRPr>
          </a:p>
          <a:p>
            <a:pPr algn="just"/>
            <a:r>
              <a:rPr lang="vi-VN" b="0" i="0" dirty="0">
                <a:effectLst/>
                <a:latin typeface="+mj-lt"/>
              </a:rPr>
              <a:t>- Kiểm thử hiệu năng tải, độ ổn định và sức bền hệ thống.</a:t>
            </a:r>
            <a:endParaRPr lang="vi-VN" dirty="0">
              <a:latin typeface="+mj-lt"/>
            </a:endParaRPr>
          </a:p>
          <a:p>
            <a:pPr algn="just"/>
            <a:r>
              <a:rPr lang="vi-VN" b="0" i="0" dirty="0">
                <a:effectLst/>
                <a:latin typeface="+mj-lt"/>
              </a:rPr>
              <a:t>- Đánh giá kết quả đạt được thực tế so với mục tiêu đề ra ban đầu.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CE9DE1-7889-C162-2CB2-87C6588E5AFE}"/>
              </a:ext>
            </a:extLst>
          </p:cNvPr>
          <p:cNvSpPr txBox="1"/>
          <p:nvPr/>
        </p:nvSpPr>
        <p:spPr>
          <a:xfrm>
            <a:off x="6764595" y="4247752"/>
            <a:ext cx="43556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b="0" i="0" dirty="0">
                <a:effectLst/>
                <a:latin typeface="+mj-lt"/>
              </a:rPr>
              <a:t>- Tổng kết những phần việc, chức năng cốt lõi đã hoàn thành của đồ án.</a:t>
            </a:r>
          </a:p>
          <a:p>
            <a:pPr algn="just"/>
            <a:r>
              <a:rPr lang="vi-VN" b="0" i="0" dirty="0">
                <a:effectLst/>
                <a:latin typeface="+mj-lt"/>
              </a:rPr>
              <a:t>- Đánh giá những điểm hạn chế cần cải tiến của hệ thống hiện tại.</a:t>
            </a:r>
          </a:p>
          <a:p>
            <a:pPr algn="just"/>
            <a:r>
              <a:rPr lang="vi-VN" dirty="0">
                <a:latin typeface="+mj-lt"/>
              </a:rPr>
              <a:t>- </a:t>
            </a:r>
            <a:r>
              <a:rPr lang="vi-VN" b="0" i="0" dirty="0">
                <a:effectLst/>
                <a:latin typeface="+mj-lt"/>
              </a:rPr>
              <a:t>Đề xuất hướng phát triển mở rộng tính năng tối ưu trong tương lai.</a:t>
            </a:r>
          </a:p>
        </p:txBody>
      </p:sp>
    </p:spTree>
    <p:extLst>
      <p:ext uri="{BB962C8B-B14F-4D97-AF65-F5344CB8AC3E}">
        <p14:creationId xmlns:p14="http://schemas.microsoft.com/office/powerpoint/2010/main" val="187478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67DC-9ECE-DB3D-531E-953C7600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732CAC-665D-8C75-C213-CF2CFB0D9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E1E43A-D470-1055-E393-A7802958059B}"/>
              </a:ext>
            </a:extLst>
          </p:cNvPr>
          <p:cNvCxnSpPr>
            <a:cxnSpLocks/>
          </p:cNvCxnSpPr>
          <p:nvPr/>
        </p:nvCxnSpPr>
        <p:spPr>
          <a:xfrm>
            <a:off x="963561" y="752362"/>
            <a:ext cx="10343536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DB3B56-7FD5-F82A-0912-FFF9C9DC5E40}"/>
              </a:ext>
            </a:extLst>
          </p:cNvPr>
          <p:cNvSpPr txBox="1"/>
          <p:nvPr/>
        </p:nvSpPr>
        <p:spPr>
          <a:xfrm>
            <a:off x="5220927" y="143213"/>
            <a:ext cx="336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j-lt"/>
              </a:rPr>
              <a:t>1. TỔNG QUAN DỰ ÁN</a:t>
            </a:r>
            <a:endParaRPr lang="en-US" sz="2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DD56F-063C-5C41-60FB-F139A875AC75}"/>
              </a:ext>
            </a:extLst>
          </p:cNvPr>
          <p:cNvSpPr txBox="1"/>
          <p:nvPr/>
        </p:nvSpPr>
        <p:spPr>
          <a:xfrm>
            <a:off x="1057705" y="899847"/>
            <a:ext cx="2644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1.1 Lý do </a:t>
            </a:r>
            <a:r>
              <a:rPr lang="vi-V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lang="en-US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629F4B-E2C5-644E-E7FD-8E1E444CD140}"/>
              </a:ext>
            </a:extLst>
          </p:cNvPr>
          <p:cNvSpPr/>
          <p:nvPr/>
        </p:nvSpPr>
        <p:spPr>
          <a:xfrm>
            <a:off x="914398" y="1447440"/>
            <a:ext cx="5181602" cy="5091010"/>
          </a:xfrm>
          <a:prstGeom prst="roundRect">
            <a:avLst>
              <a:gd name="adj" fmla="val 5820"/>
            </a:avLst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D34107-7638-B727-7348-361135B80DDA}"/>
              </a:ext>
            </a:extLst>
          </p:cNvPr>
          <p:cNvSpPr txBox="1"/>
          <p:nvPr/>
        </p:nvSpPr>
        <p:spPr>
          <a:xfrm>
            <a:off x="1057705" y="1885601"/>
            <a:ext cx="4841650" cy="4501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50"/>
              </a:spcAft>
              <a:buNone/>
            </a:pPr>
            <a:r>
              <a:rPr lang="vi-VN" b="1" i="0" dirty="0">
                <a:effectLst/>
                <a:latin typeface="+mj-lt"/>
              </a:rPr>
              <a:t>Bối cảnh thực tiễn</a:t>
            </a:r>
          </a:p>
          <a:p>
            <a:pPr algn="just"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Bùng nổ Thương mại điện tử đặt áp lực lớn lên hạ tầng chuỗi cung ứng toàn cầu.</a:t>
            </a:r>
          </a:p>
          <a:p>
            <a:pPr algn="just"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Yêu cầu cấp bách về việc tối ưu hóa quy trình từ kho bãi, phương tiện đến lộ trình giao hàng.</a:t>
            </a:r>
          </a:p>
          <a:p>
            <a:pPr algn="just">
              <a:spcBef>
                <a:spcPts val="1125"/>
              </a:spcBef>
              <a:spcAft>
                <a:spcPts val="750"/>
              </a:spcAft>
              <a:buNone/>
            </a:pPr>
            <a:r>
              <a:rPr lang="vi-VN" i="0" dirty="0">
                <a:effectLst/>
                <a:latin typeface="+mj-lt"/>
              </a:rPr>
              <a:t> </a:t>
            </a:r>
            <a:r>
              <a:rPr lang="vi-VN" b="1" i="0" dirty="0">
                <a:effectLst/>
                <a:latin typeface="+mj-lt"/>
              </a:rPr>
              <a:t>Giải pháp đột phá của SLTMS</a:t>
            </a:r>
          </a:p>
          <a:p>
            <a:pPr algn="just"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Thực hiện số hóa toàn diện quy trình vận hành và điều phối </a:t>
            </a:r>
            <a:r>
              <a:rPr lang="vi-VN" i="0" dirty="0" err="1">
                <a:effectLst/>
                <a:latin typeface="+mj-lt"/>
              </a:rPr>
              <a:t>logistics</a:t>
            </a:r>
            <a:r>
              <a:rPr lang="vi-VN" i="0" dirty="0">
                <a:effectLst/>
                <a:latin typeface="+mj-lt"/>
              </a:rPr>
              <a:t> truyền thống.</a:t>
            </a:r>
          </a:p>
          <a:p>
            <a:pPr algn="just"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Ứng dụng các thuật toán thông minh về Gom cụm địa lý và Tối ưu hóa tải trọng.</a:t>
            </a:r>
          </a:p>
          <a:p>
            <a:pPr algn="just"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Giúp doanh nghiệp giảm thiểu chi phí vận hành, tối ưu năng suất tài xế và nâng cao trải nghiệm khách hàng.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1BD7CCA-0C76-F2CC-D96B-8367E6A547DA}"/>
              </a:ext>
            </a:extLst>
          </p:cNvPr>
          <p:cNvSpPr/>
          <p:nvPr/>
        </p:nvSpPr>
        <p:spPr>
          <a:xfrm>
            <a:off x="6602360" y="1437560"/>
            <a:ext cx="5181602" cy="5091010"/>
          </a:xfrm>
          <a:prstGeom prst="roundRect">
            <a:avLst>
              <a:gd name="adj" fmla="val 5820"/>
            </a:avLst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779E3-174A-3F9F-ABBD-5BFE54F85E79}"/>
              </a:ext>
            </a:extLst>
          </p:cNvPr>
          <p:cNvSpPr txBox="1"/>
          <p:nvPr/>
        </p:nvSpPr>
        <p:spPr>
          <a:xfrm>
            <a:off x="6705600" y="15900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1" i="0" cap="all" dirty="0" err="1">
                <a:solidFill>
                  <a:srgbClr val="154294"/>
                </a:solidFill>
                <a:effectLst/>
                <a:latin typeface="Lexend"/>
              </a:rPr>
              <a:t>Mục</a:t>
            </a:r>
            <a:r>
              <a:rPr lang="en-US" b="1" i="0" cap="all" dirty="0">
                <a:solidFill>
                  <a:srgbClr val="154294"/>
                </a:solidFill>
                <a:effectLst/>
                <a:latin typeface="Lexend"/>
              </a:rPr>
              <a:t> </a:t>
            </a:r>
            <a:r>
              <a:rPr lang="en-US" b="1" i="0" cap="all" dirty="0" err="1">
                <a:solidFill>
                  <a:srgbClr val="154294"/>
                </a:solidFill>
                <a:effectLst/>
                <a:latin typeface="Lexend"/>
              </a:rPr>
              <a:t>tiêu</a:t>
            </a:r>
            <a:r>
              <a:rPr lang="en-US" b="1" i="0" cap="all" dirty="0">
                <a:solidFill>
                  <a:srgbClr val="154294"/>
                </a:solidFill>
                <a:effectLst/>
                <a:latin typeface="Lexend"/>
              </a:rPr>
              <a:t> </a:t>
            </a:r>
            <a:r>
              <a:rPr lang="en-US" b="1" i="0" cap="all" dirty="0" err="1">
                <a:solidFill>
                  <a:srgbClr val="154294"/>
                </a:solidFill>
                <a:effectLst/>
                <a:latin typeface="Lexend"/>
              </a:rPr>
              <a:t>nghiên</a:t>
            </a:r>
            <a:r>
              <a:rPr lang="en-US" b="1" i="0" cap="all" dirty="0">
                <a:solidFill>
                  <a:srgbClr val="154294"/>
                </a:solidFill>
                <a:effectLst/>
                <a:latin typeface="Lexend"/>
              </a:rPr>
              <a:t> </a:t>
            </a:r>
            <a:r>
              <a:rPr lang="en-US" b="1" i="0" cap="all" dirty="0" err="1">
                <a:solidFill>
                  <a:srgbClr val="154294"/>
                </a:solidFill>
                <a:effectLst/>
                <a:latin typeface="Lexend"/>
              </a:rPr>
              <a:t>cứu</a:t>
            </a:r>
            <a:endParaRPr lang="en-US" b="1" i="0" cap="all" dirty="0">
              <a:solidFill>
                <a:srgbClr val="154294"/>
              </a:solidFill>
              <a:effectLst/>
              <a:latin typeface="Lexen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148727-831A-3F1B-42D1-CBEF149FDE3A}"/>
              </a:ext>
            </a:extLst>
          </p:cNvPr>
          <p:cNvSpPr txBox="1"/>
          <p:nvPr/>
        </p:nvSpPr>
        <p:spPr>
          <a:xfrm>
            <a:off x="1057705" y="1516269"/>
            <a:ext cx="2413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1" i="0" cap="all" dirty="0">
                <a:solidFill>
                  <a:srgbClr val="154294"/>
                </a:solidFill>
                <a:effectLst/>
                <a:latin typeface="Lexend"/>
              </a:rPr>
              <a:t>Lý do </a:t>
            </a:r>
            <a:r>
              <a:rPr lang="en-US" b="1" i="0" cap="all" dirty="0" err="1">
                <a:solidFill>
                  <a:srgbClr val="154294"/>
                </a:solidFill>
                <a:effectLst/>
                <a:latin typeface="Lexend"/>
              </a:rPr>
              <a:t>chọn</a:t>
            </a:r>
            <a:r>
              <a:rPr lang="en-US" b="1" i="0" cap="all" dirty="0">
                <a:solidFill>
                  <a:srgbClr val="154294"/>
                </a:solidFill>
                <a:effectLst/>
                <a:latin typeface="Lexend"/>
              </a:rPr>
              <a:t> </a:t>
            </a:r>
            <a:r>
              <a:rPr lang="en-US" b="1" i="0" cap="all" dirty="0" err="1">
                <a:solidFill>
                  <a:srgbClr val="154294"/>
                </a:solidFill>
                <a:effectLst/>
                <a:latin typeface="Lexend"/>
              </a:rPr>
              <a:t>đề</a:t>
            </a:r>
            <a:r>
              <a:rPr lang="en-US" b="1" i="0" cap="all" dirty="0">
                <a:solidFill>
                  <a:srgbClr val="154294"/>
                </a:solidFill>
                <a:effectLst/>
                <a:latin typeface="Lexend"/>
              </a:rPr>
              <a:t> </a:t>
            </a:r>
            <a:r>
              <a:rPr lang="en-US" b="1" i="0" cap="all" dirty="0" err="1">
                <a:solidFill>
                  <a:srgbClr val="154294"/>
                </a:solidFill>
                <a:effectLst/>
                <a:latin typeface="Lexend"/>
              </a:rPr>
              <a:t>tài</a:t>
            </a:r>
            <a:endParaRPr lang="en-US" b="1" i="0" cap="all" dirty="0">
              <a:solidFill>
                <a:srgbClr val="154294"/>
              </a:solidFill>
              <a:effectLst/>
              <a:latin typeface="Lexen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FB514E-F71A-55E3-409E-E37184549A71}"/>
              </a:ext>
            </a:extLst>
          </p:cNvPr>
          <p:cNvSpPr txBox="1"/>
          <p:nvPr/>
        </p:nvSpPr>
        <p:spPr>
          <a:xfrm>
            <a:off x="6772589" y="2101713"/>
            <a:ext cx="4841037" cy="371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Số hóa quy trình: Tự động hóa từ khâu tiếp nhận đơn hàng, tính cước đến giao hàng.</a:t>
            </a:r>
          </a:p>
          <a:p>
            <a:pPr algn="just">
              <a:lnSpc>
                <a:spcPct val="150000"/>
              </a:lnSpc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Tối ưu nguồn lực: Quản lý khoa học vòng đời phương tiện và hiệu suất làm việc của tài xế.</a:t>
            </a:r>
          </a:p>
          <a:p>
            <a:pPr algn="just">
              <a:lnSpc>
                <a:spcPct val="150000"/>
              </a:lnSpc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- Tự động hóa tài chính: Áp dụng Bảng giá vùng linh hoạt để tính toán cước phí tự động.</a:t>
            </a:r>
          </a:p>
          <a:p>
            <a:pPr algn="just">
              <a:lnSpc>
                <a:spcPct val="150000"/>
              </a:lnSpc>
              <a:spcAft>
                <a:spcPts val="900"/>
              </a:spcAft>
            </a:pPr>
            <a:r>
              <a:rPr lang="vi-VN" i="0" dirty="0">
                <a:effectLst/>
                <a:latin typeface="+mj-lt"/>
              </a:rPr>
              <a:t> - Năng lực điều hành: Ứng dụng bản đồ số giải quyết bài toán lập lộ trình tối ưu (VRP).</a:t>
            </a:r>
          </a:p>
        </p:txBody>
      </p:sp>
    </p:spTree>
    <p:extLst>
      <p:ext uri="{BB962C8B-B14F-4D97-AF65-F5344CB8AC3E}">
        <p14:creationId xmlns:p14="http://schemas.microsoft.com/office/powerpoint/2010/main" val="4215509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AFE4-BB1C-1EB1-B6E5-A08164BD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BD0A35-2680-F1A6-9B07-6DACA12DD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686925-A8DD-59EB-2AB8-BB9B2738E0E5}"/>
              </a:ext>
            </a:extLst>
          </p:cNvPr>
          <p:cNvCxnSpPr>
            <a:cxnSpLocks/>
          </p:cNvCxnSpPr>
          <p:nvPr/>
        </p:nvCxnSpPr>
        <p:spPr>
          <a:xfrm>
            <a:off x="963561" y="752362"/>
            <a:ext cx="10343536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E912F1F-0DEF-89C1-1B40-A2DD2A7B6CA0}"/>
              </a:ext>
            </a:extLst>
          </p:cNvPr>
          <p:cNvSpPr txBox="1"/>
          <p:nvPr/>
        </p:nvSpPr>
        <p:spPr>
          <a:xfrm>
            <a:off x="5220927" y="143213"/>
            <a:ext cx="336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j-lt"/>
              </a:rPr>
              <a:t>1. TỔNG QUAN DỰ ÁN</a:t>
            </a:r>
            <a:endParaRPr lang="en-US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6D479-C36D-3E5E-6D46-4FA27A3E453E}"/>
              </a:ext>
            </a:extLst>
          </p:cNvPr>
          <p:cNvSpPr txBox="1"/>
          <p:nvPr/>
        </p:nvSpPr>
        <p:spPr>
          <a:xfrm>
            <a:off x="525025" y="752362"/>
            <a:ext cx="7172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rgbClr val="1A25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1.2 GIỚI THIỆU HỆ THỐNG QUẢN TRỊ VẬN TẢI (SLTMS)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5466C5-4FB0-7936-9001-5AC907ADD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807" y="1546307"/>
            <a:ext cx="6537918" cy="42906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C72AB5-51C2-E826-D94D-D32674BBF3D0}"/>
              </a:ext>
            </a:extLst>
          </p:cNvPr>
          <p:cNvSpPr txBox="1"/>
          <p:nvPr/>
        </p:nvSpPr>
        <p:spPr>
          <a:xfrm>
            <a:off x="525025" y="1189577"/>
            <a:ext cx="511537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 Quản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Nhân viên kinh doanh</a:t>
            </a: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Quản lý linh hoạt bảng giá vùng và cấu hình dịch vụ.</a:t>
            </a: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Tiếp nhận, xử lý và phân loại luồng đơn hàng đầu vào.</a:t>
            </a:r>
          </a:p>
          <a:p>
            <a:pPr algn="just"/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Quản lý nhân sự &amp; xe</a:t>
            </a: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Điều động và tối ưu hóa hiệu suất nguồn lực nhân sự.</a:t>
            </a: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Theo dõi chu kỳ bảo trì và thời hạn đăng kiểm phương tiện.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6354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5D4B-B998-C7D0-8F33-60C216CB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EE0B4A-117D-5F4A-DE7D-B6D7783261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1CC77-08A1-DFAC-E5A2-703A0A7CB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05DCA2-7CAF-1698-E098-4FF67831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45" y="1233969"/>
            <a:ext cx="4507376" cy="5624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54C3B5-BAE5-7E16-9E9C-BAF497C89CB4}"/>
              </a:ext>
            </a:extLst>
          </p:cNvPr>
          <p:cNvSpPr txBox="1"/>
          <p:nvPr/>
        </p:nvSpPr>
        <p:spPr>
          <a:xfrm>
            <a:off x="786284" y="899847"/>
            <a:ext cx="426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2.1. </a:t>
            </a:r>
            <a:r>
              <a:rPr lang="en-US" sz="2000" b="1" i="0" dirty="0" err="1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0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 err="1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0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Use Case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6833C7-68A9-5155-C468-42023A4BEB85}"/>
              </a:ext>
            </a:extLst>
          </p:cNvPr>
          <p:cNvCxnSpPr>
            <a:cxnSpLocks/>
          </p:cNvCxnSpPr>
          <p:nvPr/>
        </p:nvCxnSpPr>
        <p:spPr>
          <a:xfrm>
            <a:off x="963561" y="752362"/>
            <a:ext cx="10343536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BB89E1-4BDC-6DC8-87AF-A3AA933A2815}"/>
              </a:ext>
            </a:extLst>
          </p:cNvPr>
          <p:cNvSpPr txBox="1"/>
          <p:nvPr/>
        </p:nvSpPr>
        <p:spPr>
          <a:xfrm>
            <a:off x="5220927" y="143213"/>
            <a:ext cx="3366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j-lt"/>
              </a:rPr>
              <a:t>1. TỔNG QUAN DỰ ÁN</a:t>
            </a:r>
            <a:endParaRPr lang="en-US" sz="24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0D888E-D573-3E62-9CCF-F706BBBA1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435" y="1504725"/>
            <a:ext cx="6731558" cy="439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9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B3C1-63C1-135B-0096-142A7A19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D4341C-949B-F9A0-5BEA-5B386E550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0478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B99FC-7B8B-F8B2-44DC-F0493526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92D71D-20B6-AC45-59E9-D759B15A2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283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877DD-518C-2EAC-569B-503C00DD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A636C0-E20A-226A-F349-08E9543D0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4339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8CA1-96E9-B9D0-17EE-9909ADEB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66E294-1DB6-8CD8-64E0-AA7F538C5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663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CEA7-1293-4FCA-0B13-3A0C5B94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369B30-35A7-8F5D-AC09-A098003BF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753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D9FF-282C-11FB-D60B-93A6024F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876DA6-8F22-4AAC-9FD9-D70400C6F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4795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DF515-999B-FBDC-594C-7D31C628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1988BD-F8FC-3450-D27F-7C14AF0BB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633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22F7-31D2-2605-57F5-B2DFA2DD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5B0BCC-3367-6709-A51B-FFAD66E94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921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0CE82-DEAD-AD5E-79E9-826F71D0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74A44F-FA4C-D681-DC30-64420B8CF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4821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C336-417E-9416-CA3F-489CE169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C9E640-7F09-E6A1-F127-5BA10CFD3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42"/>
            <a:ext cx="3604260" cy="61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9205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>
            <a:spLocks noGrp="1"/>
          </p:cNvSpPr>
          <p:nvPr>
            <p:ph type="ctrTitle"/>
          </p:nvPr>
        </p:nvSpPr>
        <p:spPr>
          <a:xfrm>
            <a:off x="3382943" y="840908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B4E"/>
              </a:buClr>
              <a:buSzPts val="4800"/>
              <a:buFont typeface="Be Vietnam Pro"/>
              <a:buNone/>
            </a:pPr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881041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2"/>
          </p:nvPr>
        </p:nvSpPr>
        <p:spPr>
          <a:xfrm>
            <a:off x="868249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3"/>
          </p:nvPr>
        </p:nvSpPr>
        <p:spPr>
          <a:xfrm>
            <a:off x="493394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25" name="Google Shape;125;p15"/>
          <p:cNvSpPr>
            <a:spLocks noGrp="1"/>
          </p:cNvSpPr>
          <p:nvPr>
            <p:ph type="pic" idx="4"/>
          </p:nvPr>
        </p:nvSpPr>
        <p:spPr>
          <a:xfrm>
            <a:off x="1526710" y="3156485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Google Shape;126;p15"/>
          <p:cNvSpPr>
            <a:spLocks noGrp="1"/>
          </p:cNvSpPr>
          <p:nvPr>
            <p:ph type="pic" idx="5"/>
          </p:nvPr>
        </p:nvSpPr>
        <p:spPr>
          <a:xfrm>
            <a:off x="4953554" y="1995486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Google Shape;127;p15"/>
          <p:cNvSpPr>
            <a:spLocks noGrp="1"/>
          </p:cNvSpPr>
          <p:nvPr>
            <p:ph type="pic" idx="6"/>
          </p:nvPr>
        </p:nvSpPr>
        <p:spPr>
          <a:xfrm>
            <a:off x="8852743" y="1995487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655</Words>
  <Application>Microsoft Office PowerPoint</Application>
  <PresentationFormat>Widescreen</PresentationFormat>
  <Paragraphs>55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Be Vietnam Pro</vt:lpstr>
      <vt:lpstr>Lexend</vt:lpstr>
      <vt:lpstr>Aptos</vt:lpstr>
      <vt:lpstr>Aptos Display</vt:lpstr>
      <vt:lpstr>Arial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Đức Toán</dc:creator>
  <cp:lastModifiedBy>Nguyễn Đức Toán</cp:lastModifiedBy>
  <cp:revision>1</cp:revision>
  <dcterms:created xsi:type="dcterms:W3CDTF">2026-05-16T04:10:09Z</dcterms:created>
  <dcterms:modified xsi:type="dcterms:W3CDTF">2026-05-16T06:58:06Z</dcterms:modified>
</cp:coreProperties>
</file>